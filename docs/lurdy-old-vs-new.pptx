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f40313d-6c8f-0a15-5dff-a2d2b2af1fc1}">
          <p14:sldIdLst>
            <p14:sldId id="256"/>
          </p14:sldIdLst>
        </p14:section>
        <p14:section name="Findings" id="{92dfce37-a826-5054-5fc3-d3f24f96fa9b}">
          <p14:sldIdLst>
            <p14:sldId id="257"/>
            <p14:sldId id="258"/>
            <p14:sldId id="259"/>
            <p14:sldId id="260"/>
          </p14:sldIdLst>
        </p14:section>
        <p14:section name="Next steps" id="{7b3d594a-49fa-89f4-caf5-57bf6df7d50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19 October 2026: the live old site www.lurdy.eu (WordPress with the Divi theme) and the new site's production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Accessibility: 15 WCAG 2.1 A/AA problems on the old home page (12 low-contrast texts, 2 links without a name, zoom disabled on phones); none on the new one. Outside services: the old site loads Google Fonts from Google's servers, which sends every visitor's IP address to Google; the new site loads nothing from other servers. Download: 29 requests and 1.4 MB versus 19 requests and about 0.45 MB compressed.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page at 1440 x 900, 19 Oct 2026. The new site uses the same Order frame as the new maltezskyrad.cz: red top bar, banner with the lockup in the page language, graphite menu, grey/white/red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applications are emailed to the organisers through Resend and are not stored on the website. Attachments: photos are redrawn at 2000 px, PDFs over 1 MB are compressed with Ghostscript running in the browser; a 6.8 MB scan went up as about 1 MB. The server checks each file by its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site headers: server Apache, no CSP or HSTS; /wp-json/wp/v2/users answers publicly with the administrator's name and login. Organiser from ARES: Maltézský nadační fond LOURDES, IČO 28930649, Velkopřevorské náměstí 485/4, Praha 1, foundation register N 751 at the Municipal Court in Prague. Google Fonts loaded from Google's servers without consent was ruled a GDPR breach by the Munich Regional Court in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is built: all content migrated, photo gallery 2003–2019, online applications with attachments for all three groups, old WordPress addresses redirect to the new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a956164b-cfa5-5804-a3a7-7f748db7c02a/scratchpad/ldeck/banner-stri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1463040"/>
          </a:xfrm>
          <a:prstGeom prst="rect">
            <a:avLst/>
          </a:prstGeom>
        </p:spPr>
      </p:pic>
      <p:pic>
        <p:nvPicPr>
          <p:cNvPr id="3" name="Image 1" descr="/tmp/claude-0/-home-user/a956164b-cfa5-5804-a3a7-7f748db7c02a/scratchpad/ldeck/lockup-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2743200" cy="9189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Pilgrimage to Lourdes  ·  lurdy.eu, old and new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new website for the pilgrimage to Lourdes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lurdy.eu, the old site and the new one compared: applications, security, compliance, look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new site in four numbers</a:t>
            </a:r>
            <a:endParaRPr lang="en-US" sz="2800" dirty="0"/>
          </a:p>
        </p:txBody>
      </p:sp>
      <p:sp>
        <p:nvSpPr>
          <p:cNvPr id="3" name="stat-card-1"/>
          <p:cNvSpPr/>
          <p:nvPr/>
        </p:nvSpPr>
        <p:spPr>
          <a:xfrm>
            <a:off x="45720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ACCESSIBILITY ERRORS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15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WCAG 2.1 AA, home page</a:t>
            </a:r>
            <a:endParaRPr lang="en-US" sz="1100" dirty="0"/>
          </a:p>
        </p:txBody>
      </p:sp>
      <p:sp>
        <p:nvSpPr>
          <p:cNvPr id="8" name="stat-card-2"/>
          <p:cNvSpPr/>
          <p:nvPr/>
        </p:nvSpPr>
        <p:spPr>
          <a:xfrm>
            <a:off x="256032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OUTSIDE SERVICES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Google Fonts on every visit</a:t>
            </a:r>
            <a:endParaRPr lang="en-US" sz="1100" dirty="0"/>
          </a:p>
        </p:txBody>
      </p:sp>
      <p:sp>
        <p:nvSpPr>
          <p:cNvPr id="13" name="stat-card-3"/>
          <p:cNvSpPr/>
          <p:nvPr/>
        </p:nvSpPr>
        <p:spPr>
          <a:xfrm>
            <a:off x="466344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HOME PAGE DOWNLOAD, MB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0.45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1.4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desktop, first visit</a:t>
            </a:r>
            <a:endParaRPr lang="en-US" sz="1100" dirty="0"/>
          </a:p>
        </p:txBody>
      </p:sp>
      <p:sp>
        <p:nvSpPr>
          <p:cNvPr id="18" name="stat-card-4"/>
          <p:cNvSpPr/>
          <p:nvPr/>
        </p:nvSpPr>
        <p:spPr>
          <a:xfrm>
            <a:off x="6766560" y="132588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508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</a:rPr>
              <a:t>LANGUAGES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19659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was 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CS · EN · FR · IT · DE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Measured 19 Oct 2026 in Chromium: axe-core accessibility scan and network log of the home page.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Look: theme template, Order frame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Old site</a:t>
            </a:r>
            <a:endParaRPr lang="en-US" sz="1200" dirty="0"/>
          </a:p>
        </p:txBody>
      </p:sp>
      <p:sp>
        <p:nvSpPr>
          <p:cNvPr id="4" name="Old site-frame"/>
          <p:cNvSpPr/>
          <p:nvPr/>
        </p:nvSpPr>
        <p:spPr>
          <a:xfrm>
            <a:off x="457200" y="1417320"/>
            <a:ext cx="3931920" cy="24574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Old site-screenshot" descr="/tmp/claude-0/-home-user/a956164b-cfa5-5804-a3a7-7f748db7c02a/scratchpad/ldeck/shots/ol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44752"/>
            <a:ext cx="3877056" cy="2423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Generic Divi theme, small shield, no Order banner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Dates and registration hidden in a block of text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New site</a:t>
            </a:r>
            <a:endParaRPr lang="en-US" sz="1200" dirty="0"/>
          </a:p>
        </p:txBody>
      </p:sp>
      <p:sp>
        <p:nvSpPr>
          <p:cNvPr id="8" name="New site-frame"/>
          <p:cNvSpPr/>
          <p:nvPr/>
        </p:nvSpPr>
        <p:spPr>
          <a:xfrm>
            <a:off x="4754880" y="1417320"/>
            <a:ext cx="3931920" cy="24574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9" name="New site-screenshot" descr="/tmp/claude-0/-home-user/a956164b-cfa5-5804-a3a7-7f748db7c02a/scratchpad/ldeck/shots/new-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444752"/>
            <a:ext cx="3877056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39593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Grand Magistry frame with the personalised lockup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Lourdes photograph, dates and Applications button up front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Applications: easier and safer</a:t>
            </a:r>
            <a:endParaRPr lang="en-US" sz="2800" dirty="0"/>
          </a:p>
        </p:txBody>
      </p:sp>
      <p:graphicFrame>
        <p:nvGraphicFramePr>
          <p:cNvPr id="5" name="application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Old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New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Online forms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Sick and pilgrims; the team page was empty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Sick, pilgrims and team, in five languages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Attachments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None; medical reports by post or email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Up to 5 photos or PDFs, shrunk on the applicant's device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Consent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Implied by sending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Explicit checkboxes for the declaration and health data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Copy to applicant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Full copy, health data included, to whatever address was typed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 receipt only, with none of the data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Unfinished form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Lost on reload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Kept in the applicant's browser until sent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Dates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Free text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Day, month, year in the page language, checked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Security and compliance</a:t>
            </a:r>
            <a:endParaRPr lang="en-US" sz="2800" dirty="0"/>
          </a:p>
        </p:txBody>
      </p:sp>
      <p:graphicFrame>
        <p:nvGraphicFramePr>
          <p:cNvPr id="6" name="secur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Old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New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Software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WordPress with the Divi theme; the public API lists the administrator's login name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Static pages and one small form function; no admin area, no database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Security headers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None: no Content-Security-Policy, no HSTS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CSP, HSTS, X-Frame-Options, Referrer and Permissions policies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Privacy notice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None on the site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Full notice in five languages, including health data and attachments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Organiser identity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shown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Maltézský nadační fond LOURDES, IČO, seat and register entry in the footer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Visitor data to others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Google Fonts sends every visitor's IP address to Google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Nothing loads from other servers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is needed to launch</a:t>
            </a:r>
            <a:endParaRPr lang="en-US" sz="3200" dirty="0"/>
          </a:p>
        </p:txBody>
      </p:sp>
      <p:sp>
        <p:nvSpPr>
          <p:cNvPr id="3" name="step-1-marker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98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Point lurdy.eu to the new site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Change the domain's DNS at the registrar to Vercel.</a:t>
            </a:r>
            <a:endParaRPr lang="en-US" sz="1300" dirty="0"/>
          </a:p>
        </p:txBody>
      </p:sp>
      <p:sp>
        <p:nvSpPr>
          <p:cNvPr id="7" name="step-2-marker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671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Verify lurdy.eu in Resend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Add Resend's DNS records and accept its data processing agreement, so applications can be emailed.</a:t>
            </a:r>
            <a:endParaRPr lang="en-US" sz="1300" dirty="0"/>
          </a:p>
        </p:txBody>
      </p:sp>
      <p:sp>
        <p:nvSpPr>
          <p:cNvPr id="11" name="step-3-marker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35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Sign off the privacy notice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Approval by the foundation of the text in five languages.</a:t>
            </a:r>
            <a:endParaRPr lang="en-US" sz="1300" dirty="0"/>
          </a:p>
        </p:txBody>
      </p:sp>
      <p:sp>
        <p:nvSpPr>
          <p:cNvPr id="15" name="step-4-marker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904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the translations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 native-speaker read of the English, French, Italian and German pages.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der of Malta">
  <a:themeElements>
    <a:clrScheme name="Order of Malta">
      <a:dk1>
        <a:srgbClr val="111111"/>
      </a:dk1>
      <a:lt1>
        <a:srgbClr val="FFFFFF"/>
      </a:lt1>
      <a:dk2>
        <a:srgbClr val="454545"/>
      </a:dk2>
      <a:lt2>
        <a:srgbClr val="F3F3F3"/>
      </a:lt2>
      <a:accent1>
        <a:srgbClr val="E31818"/>
      </a:accent1>
      <a:accent2>
        <a:srgbClr val="C80E00"/>
      </a:accent2>
      <a:accent3>
        <a:srgbClr val="6F6F6F"/>
      </a:accent3>
      <a:accent4>
        <a:srgbClr val="C7C7C7"/>
      </a:accent4>
      <a:accent5>
        <a:srgbClr val="2F2F2F"/>
      </a:accent5>
      <a:accent6>
        <a:srgbClr val="A7B7D5"/>
      </a:accent6>
      <a:hlink>
        <a:srgbClr val="C80E00"/>
      </a:hlink>
      <a:folHlink>
        <a:srgbClr val="6F6F6F"/>
      </a:folHlink>
    </a:clrScheme>
    <a:fontScheme name="Order of Malta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Maltézský nadační fond LOURDES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lurdy.eu: old site and new site compared</dc:title>
  <dc:subject>PptxGenJS Presentation</dc:subject>
  <dc:creator>Grand Priory of Bohemia</dc:creator>
  <cp:lastModifiedBy>Grand Priory of Bohemia</cp:lastModifiedBy>
  <cp:revision>1</cp:revision>
  <dcterms:created xsi:type="dcterms:W3CDTF">2026-10-19T09:35:00Z</dcterms:created>
  <dcterms:modified xsi:type="dcterms:W3CDTF">2026-10-19T09:35:00Z</dcterms:modified>
</cp:coreProperties>
</file>